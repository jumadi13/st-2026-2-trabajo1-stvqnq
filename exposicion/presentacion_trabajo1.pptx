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778240" y="640080"/>
            <a:ext cx="2560320" cy="914400"/>
          </a:xfrm>
          <a:prstGeom prst="round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01200" y="1828800"/>
            <a:ext cx="1737360" cy="1737360"/>
          </a:xfrm>
          <a:prstGeom prst="round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138160" y="3931920"/>
            <a:ext cx="3200400" cy="1188720"/>
          </a:xfrm>
          <a:prstGeom prst="roundRect">
            <a:avLst/>
          </a:prstGeom>
          <a:solidFill>
            <a:srgbClr val="26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822960"/>
            <a:ext cx="7040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EAF3A"/>
                </a:solidFill>
                <a:latin typeface="Aptos"/>
              </a:rPr>
              <a:t>TRABAJO 1 · SERIES DE TIEMPO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54480"/>
            <a:ext cx="71323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Descripción, dependencia
y pronóstico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24612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B9DEE1"/>
                </a:solidFill>
                <a:latin typeface="Aptos"/>
              </a:rPr>
              <a:t>Equipo STVQNQ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886200"/>
            <a:ext cx="6675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Tres series · Tres decisiones · Un mismo criterio de evaluación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598932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FD8E3"/>
                </a:solidFill>
                <a:latin typeface="Aptos"/>
              </a:rPr>
              <a:t>Juan Manuel Díaz Larrea  ·  Sofía Valentina López Ramírez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18520" y="626364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Aptos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1 · EVIDENCIA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Cartera de crédito: la tendencia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2/7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150 observaciones mensuales
Jul. 2013 – dic. 2025
Unidad: millones de pesos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23444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Transformación analizada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Diferencia regular: ΔYₜ = Yₜ − Yₜ₋₁
Media de la diferencia: 1,857 millones/mes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Ganador a un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Holt
30 errores de origen móvil
Desviación del error: 2,351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Validación del ganador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Sesgo 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0,029
Prueba t: p = 0,947
No hay evidencia de sesgo medio.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657600"/>
            <a:ext cx="73152" cy="137160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Autocorrelación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Ljung–Box: p = 0,315
No se rechaza ausencia conjunta de autocorrelación en los errores.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La tendencia lineal local ayuda a proyectar a corto plazo; el pronóstico sigue sujeto a variaciones de la cartera.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Horizonte operativo: pronosticar 6 meses para planear el fondeo.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1 · DECISIÓN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¿Cuánto fondeo preparar para los próximos seis meses?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3/7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7548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242"/>
                </a:solidFill>
                <a:latin typeface="Aptos"/>
              </a:rPr>
              <a:t>Usar la proyección de cartera como escenario base para planear la disponibilidad de recursos.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206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73152" cy="137160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5564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Cómo usarla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67128"/>
            <a:ext cx="47548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242"/>
                </a:solidFill>
                <a:latin typeface="Aptos"/>
              </a:rPr>
              <a:t>Acompañar el valor proyectado con un margen de prudencia y revisar el plan cada mes cuando llegue nueva información.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Qué significa el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263242"/>
                </a:solidFill>
                <a:latin typeface="Aptos"/>
              </a:rPr>
              <a:t>En los errores de evaluación a un paso, la desviación fue de aproximadamente 2,35 millones de pesos. No es una garantía de que el error futuro esté limitado a esa cifra.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613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73152" cy="822960"/>
          </a:xfrm>
          <a:prstGeom prst="rect">
            <a:avLst/>
          </a:prstGeom>
          <a:solidFill>
            <a:srgbClr val="B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230368"/>
            <a:ext cx="10195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Límite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641848"/>
            <a:ext cx="101955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El modelo extrapola patrones históricos; no anticipa por sí solo cambios de política crediticia, choques económicos ni decisiones extraordinarias.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2 · EVIDENCIA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Primas emitidas: patrón trimestral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4/7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128 observaciones trimestrales
Ene. 1994 – oct. 2025
Unidad: miles de millones de pesos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23444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Transformación analizada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Diferencia estacional de logaritmos
(1 − B⁴) log(Yₜ)
Busca cambios relativos entre trimestres equivalentes.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Ganador a un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Holt–Winters multiplicativo
26 errores de origen móvil
Desviación del error: 7,633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Validación del ganador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Sesgo medio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0,495
Prueba t: p = 0,744
Sin evidencia de sesgo medio.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657600"/>
            <a:ext cx="73152" cy="137160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Autocorrelación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Ljung–Box: p = 0,855
No se rechaza ausencia conjunta de autocorrelación.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Lectura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La estacionalidad multiplicativa permite que la amplitud estacional varíe con el nivel.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341"/>
                </a:solidFill>
                <a:latin typeface="Aptos"/>
              </a:rPr>
              <a:t>Horizonte operativo: 4 trimestres para orientar metas y reservas de 2026.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2 · DECISIÓN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Metas y reservas: planear por trimestre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5/7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1206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67128"/>
            <a:ext cx="47548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242"/>
                </a:solidFill>
                <a:latin typeface="Aptos"/>
              </a:rPr>
              <a:t>Tomar el pronóstico como referencia para definir metas comerciales y revisar las reservas previstas por trimestre.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2064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73152" cy="137160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75564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Por qué este método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67128"/>
            <a:ext cx="4754879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La comparación de origen móvil favoreció Holt–Winters multiplicativo para el pronóstico a un paso, coherente con un patrón estacional cuya amplitud cambia.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Qué significa el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31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242"/>
                </a:solidFill>
                <a:latin typeface="Aptos"/>
              </a:rPr>
              <a:t>La desviación de los errores a un paso fue de aproximadamente 7,63 (en las unidades de la serie: miles de millones de pesos). Debe tratarse como una medida histórica de incertidumbre, no como un límite.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5613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5074920"/>
            <a:ext cx="73152" cy="822960"/>
          </a:xfrm>
          <a:prstGeom prst="rect">
            <a:avLst/>
          </a:prstGeom>
          <a:solidFill>
            <a:srgbClr val="B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5230368"/>
            <a:ext cx="10195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Límite clave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641848"/>
            <a:ext cx="1019556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Una variación en precios, renovaciones, siniestralidad o estrategia comercial puede alterar el patrón histórico; revisar el pronóstico al cierre de cada trimestre.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3 · EVIDENCIA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Rechazos diarios: un método simple compite bien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6/7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160 observaciones diarias
5 may. – 11 oct. 2025
Unidad: transacciones rechazadas/día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508760"/>
            <a:ext cx="73152" cy="123444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Transformación analizada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Serie original, sin diferenciar
Media: 79,84 rechazos/día
La diferencia regular reduce demasiado la persistencia.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508760"/>
            <a:ext cx="3474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664207"/>
            <a:ext cx="31089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Ganador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75688"/>
            <a:ext cx="3108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Media simple a un paso
32 errores de origen móvil
Desviación del error: 6,038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54680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Evaluación en el horizonte operativo de 7 días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RMSE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5,843 rechazos
Mejor que el ingenuo: RMSE 9,632.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657600"/>
            <a:ext cx="73152" cy="137160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36007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Sesgo medio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007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−0,370
Prueba t: p = 0,731
Sin evidencia de sesgo medio.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657600"/>
            <a:ext cx="333756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38160" y="3657600"/>
            <a:ext cx="73152" cy="137160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9328" y="3813048"/>
            <a:ext cx="29718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Diagnósticos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8" y="4224528"/>
            <a:ext cx="2971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Ljung–Box p = 0,421
Jarque–Bera p = 0,825
Sin señales fuertes en estos diagnósticos.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El dato más reciente es sábado; la programación operativa ocurre el domingo.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9191"/>
                </a:solidFill>
                <a:latin typeface="Aptos"/>
              </a:rPr>
              <a:t>SERIE 3 · DECISIÓN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2341"/>
                </a:solidFill>
                <a:latin typeface="Aptos"/>
              </a:rPr>
              <a:t>Programar turnos sin confundir pronóstico con certeza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34747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5F6D7E"/>
                </a:solidFill>
                <a:latin typeface="Aptos"/>
              </a:rPr>
              <a:t>7/7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1097280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12064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32588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664207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75688"/>
            <a:ext cx="47548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63242"/>
                </a:solidFill>
                <a:latin typeface="Aptos"/>
              </a:rPr>
              <a:t>Usar la media reciente como punto de partida para dimensionar la capacidad diaria de atención de rechazos.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08760"/>
            <a:ext cx="5120640" cy="132588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508760"/>
            <a:ext cx="73152" cy="1325880"/>
          </a:xfrm>
          <a:prstGeom prst="rect">
            <a:avLst/>
          </a:prstGeom>
          <a:solidFill>
            <a:srgbClr val="EEA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664207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Regla de costo del contexto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075688"/>
            <a:ext cx="47548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63242"/>
                </a:solidFill>
                <a:latin typeface="Aptos"/>
              </a:rPr>
              <a:t>Un turno cuesta $380.000 y cubre 20 casos. El costo potencial de ventas perdidas se estima en $3.000.000 por turno faltante, bajo los supuestos del caso.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42341"/>
                </a:solidFill>
                <a:latin typeface="Aptos"/>
              </a:rPr>
              <a:t>Qué dice la evaluación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10515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263242"/>
                </a:solidFill>
                <a:latin typeface="Aptos"/>
              </a:rPr>
              <a:t>A 7 días, RMSE ≈ 5,84 rechazos frente a 9,63 del ingenuo. La media simple es más competitiva que métodos más complejos en este horizonte.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512064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4709160"/>
            <a:ext cx="73152" cy="1051560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486460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Recomendación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5276088"/>
            <a:ext cx="4754879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Programar con el pronóstico y mantener flexibilidad para ajustar turnos ante nueva información.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09160"/>
            <a:ext cx="512064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4709160"/>
            <a:ext cx="73152" cy="1051560"/>
          </a:xfrm>
          <a:prstGeom prst="rect">
            <a:avLst/>
          </a:prstGeom>
          <a:solidFill>
            <a:srgbClr val="B4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4864608"/>
            <a:ext cx="47548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341"/>
                </a:solidFill>
                <a:latin typeface="Aptos"/>
              </a:rPr>
              <a:t>No garantiza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5276088"/>
            <a:ext cx="4754879" cy="3657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63242"/>
                </a:solidFill>
                <a:latin typeface="Aptos"/>
              </a:rPr>
              <a:t>No predice eventos excepcionales ni convierte el costo estimado en una pérdida segura; los costos dependen de los supuestos operativos.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10972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F6D7E"/>
                </a:solidFill>
                <a:latin typeface="Aptos"/>
              </a:rPr>
              <a:t>STVQNQ · Series de Tiempo · UNAL Medellín · 2026-II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702</Words>
  <Application>Microsoft Office PowerPoint</Application>
  <PresentationFormat>Panorámica</PresentationFormat>
  <Paragraphs>98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Usuario</dc:creator>
  <cp:keywords/>
  <dc:description>generated using python-pptx</dc:description>
  <cp:lastModifiedBy>Usuario</cp:lastModifiedBy>
  <cp:revision>2</cp:revision>
  <dcterms:created xsi:type="dcterms:W3CDTF">2013-01-27T09:14:16Z</dcterms:created>
  <dcterms:modified xsi:type="dcterms:W3CDTF">2026-10-16T22:37:37Z</dcterms:modified>
  <cp:category/>
</cp:coreProperties>
</file>